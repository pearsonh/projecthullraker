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7D1AAB-1FDB-29DA-408B-51D56BAC2C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BB8A9C4-892B-3A75-DD22-F2688EACB0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04F8E2-B7A7-E8DD-953E-BDAA3E07AE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88A4CC-0FCE-4549-B705-F62817C338D0}" type="datetimeFigureOut">
              <a:rPr lang="en-US" smtClean="0"/>
              <a:t>1/1/2026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382FDE-5250-C602-624A-C0E4F3E662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FE3693-E8B8-0698-AAE3-B4C4068A6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57BB9F-7579-4E93-8ADB-7CA9F1EB06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32692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12ACF4-D48C-AB65-084F-A4B485CEB3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670BAF-41BB-56AC-6751-A11F645D05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3D759D-2FFA-F56E-A021-B36ED68F5B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88A4CC-0FCE-4549-B705-F62817C338D0}" type="datetimeFigureOut">
              <a:rPr lang="en-US" smtClean="0"/>
              <a:t>1/1/2026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27F9CC-173E-1864-7DAC-C7A92024DE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948C38-724A-DBC2-32EB-B29EDD3F3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57BB9F-7579-4E93-8ADB-7CA9F1EB06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5294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92D1FC-E5C9-78A2-31C5-5D12AA7740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3F9FACB-159E-0749-2B21-71C9B45464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69C7E0-CB1B-9FC1-A269-F6EA0B4525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88A4CC-0FCE-4549-B705-F62817C338D0}" type="datetimeFigureOut">
              <a:rPr lang="en-US" smtClean="0"/>
              <a:t>1/1/2026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A8A7C2-2EFA-5EFB-72F9-3E7972D5DC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5B6CD3-22C3-7B95-01EA-25E42EFCFB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57BB9F-7579-4E93-8ADB-7CA9F1EB06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29607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E6D4B5-CCCC-2572-63A2-310D8E5C92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93AC41-B8F8-EEEF-9B10-CD29CEF55E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5205EF-20F1-2E64-9D71-CE4ADCAC72B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19C7A7-6275-28D3-B0CF-5541BC6DCA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88A4CC-0FCE-4549-B705-F62817C338D0}" type="datetimeFigureOut">
              <a:rPr lang="en-US" smtClean="0"/>
              <a:t>1/1/2026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47A6D2-CF6C-73D5-0DD1-6646EF248B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87662A-4A33-B4F5-E3F6-A437CF849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57BB9F-7579-4E93-8ADB-7CA9F1EB06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24764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C75749-3853-FBDB-A009-7EA38712CE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5841B9-640A-6BA6-4B00-EF01A5EC6F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A2C15F4-4DFC-1222-58B8-D892475B61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9429627-4876-01E2-7534-A96E7E4A86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72F7B58-4FBC-5252-1C24-B1502EA83AA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A291AAA-6D36-1286-49FA-6F980FDE0D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88A4CC-0FCE-4549-B705-F62817C338D0}" type="datetimeFigureOut">
              <a:rPr lang="en-US" smtClean="0"/>
              <a:t>1/1/2026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23A401C-90AD-ED53-7BA3-DAF24F080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364EA0B-9C58-5785-D6CB-AA156E9D34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57BB9F-7579-4E93-8ADB-7CA9F1EB06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1347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74151-2087-34A3-C874-58EC8613D6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6242A9-EE94-0056-9DED-CEB62E1D7B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88A4CC-0FCE-4549-B705-F62817C338D0}" type="datetimeFigureOut">
              <a:rPr lang="en-US" smtClean="0"/>
              <a:t>1/1/2026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4CE692D-E54D-47EE-D331-7511479649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FCE65B-B91A-A3FC-010E-BFB0E8EB26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57BB9F-7579-4E93-8ADB-7CA9F1EB06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9527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53F2E35-1071-BD59-1CD9-6B06A40836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88A4CC-0FCE-4549-B705-F62817C338D0}" type="datetimeFigureOut">
              <a:rPr lang="en-US" smtClean="0"/>
              <a:t>1/1/2026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BC437C0-85B3-4E6F-5746-D883A4ABE7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5A9EF3-52CC-8115-59DD-F46C533656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57BB9F-7579-4E93-8ADB-7CA9F1EB06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25575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6C11DE-3F32-CCCE-47D0-51738771C1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FD687F-D478-F060-4D58-60F73EF670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C93F35D-45D3-F116-4B2D-652042A63E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6C4C85-22D1-548B-D432-82CB2B52A4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88A4CC-0FCE-4549-B705-F62817C338D0}" type="datetimeFigureOut">
              <a:rPr lang="en-US" smtClean="0"/>
              <a:t>1/1/2026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4B222E-0818-102D-A930-DD352681AB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2EC2D6-A6C5-EA4C-B04C-F9353FDF08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57BB9F-7579-4E93-8ADB-7CA9F1EB06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7479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A05E0-E0EA-0F22-C1CE-F1F5C47A1A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3C21FAC-B28B-9A44-DB15-291B10C2DF7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E54F52-54D5-0A45-D5EE-55DF5B3CC6B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5C808A-582B-E565-0A01-F356F45648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88A4CC-0FCE-4549-B705-F62817C338D0}" type="datetimeFigureOut">
              <a:rPr lang="en-US" smtClean="0"/>
              <a:t>1/1/2026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DDB122-C9B7-6415-7519-8B8B9BBA34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EE0930E-B0DC-3DE8-4DC9-F25E6EA3A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57BB9F-7579-4E93-8ADB-7CA9F1EB06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0316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A8AFB1-6AC3-574E-651D-400BBBF08E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EC4D2E-9312-C121-75B4-B63BE9FF2F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1F27DE-D19A-8E86-5A97-BCBE8B0909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88A4CC-0FCE-4549-B705-F62817C338D0}" type="datetimeFigureOut">
              <a:rPr lang="en-US" smtClean="0"/>
              <a:t>1/1/2026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CEC7C1-142B-C5F4-B95B-EA1437577C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7092BC-4D43-C641-9214-4320E049E2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57BB9F-7579-4E93-8ADB-7CA9F1EB06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18219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34845C-7C77-7133-FFE9-47E61F36B3F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E578A0-1C66-347A-2C16-03B414BDE9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CBFCBD-3D88-D0D6-B612-741FB779FA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88A4CC-0FCE-4549-B705-F62817C338D0}" type="datetimeFigureOut">
              <a:rPr lang="en-US" smtClean="0"/>
              <a:t>1/1/2026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E47E7B-FCFF-A350-7AF3-D2667987F7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312260-0250-683D-0186-709E55A5B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57BB9F-7579-4E93-8ADB-7CA9F1EB06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83725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8C42135-E00A-E44F-D504-50D750031C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23ED10-288F-1E5F-C328-F4A2816649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B563A8-EA9B-3E52-33C1-6FFC299388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C88A4CC-0FCE-4549-B705-F62817C338D0}" type="datetimeFigureOut">
              <a:rPr lang="en-US" smtClean="0"/>
              <a:t>1/1/2026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6AA906-2A48-3354-B994-85791AF7C6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16461E-82A4-FA6A-CDB1-796A6FA824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57BB9F-7579-4E93-8ADB-7CA9F1EB06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4000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8E158F2-88DD-D7E7-B4AD-AA3A653506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4319126"/>
              </p:ext>
            </p:extLst>
          </p:nvPr>
        </p:nvGraphicFramePr>
        <p:xfrm>
          <a:off x="100584" y="274320"/>
          <a:ext cx="6720840" cy="596188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6720840">
                  <a:extLst>
                    <a:ext uri="{9D8B030D-6E8A-4147-A177-3AD203B41FA5}">
                      <a16:colId xmlns:a16="http://schemas.microsoft.com/office/drawing/2014/main" val="2115971656"/>
                    </a:ext>
                  </a:extLst>
                </a:gridCol>
              </a:tblGrid>
              <a:tr h="119237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57803333"/>
                  </a:ext>
                </a:extLst>
              </a:tr>
              <a:tr h="1192377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599739"/>
                  </a:ext>
                </a:extLst>
              </a:tr>
              <a:tr h="119237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74826056"/>
                  </a:ext>
                </a:extLst>
              </a:tr>
              <a:tr h="1192377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37822257"/>
                  </a:ext>
                </a:extLst>
              </a:tr>
              <a:tr h="119237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6521330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7A8487A8-B01F-D4E9-AEC4-E842724E507B}"/>
              </a:ext>
            </a:extLst>
          </p:cNvPr>
          <p:cNvSpPr txBox="1"/>
          <p:nvPr/>
        </p:nvSpPr>
        <p:spPr>
          <a:xfrm>
            <a:off x="2788920" y="429768"/>
            <a:ext cx="12984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Door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CAA258-8EE6-98BC-98A7-A55E61A330B4}"/>
              </a:ext>
            </a:extLst>
          </p:cNvPr>
          <p:cNvSpPr txBox="1"/>
          <p:nvPr/>
        </p:nvSpPr>
        <p:spPr>
          <a:xfrm>
            <a:off x="2721864" y="5574792"/>
            <a:ext cx="12984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Door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E3D1329-842F-C057-D62F-A69A0331A4B8}"/>
              </a:ext>
            </a:extLst>
          </p:cNvPr>
          <p:cNvSpPr txBox="1"/>
          <p:nvPr/>
        </p:nvSpPr>
        <p:spPr>
          <a:xfrm>
            <a:off x="2721864" y="2816682"/>
            <a:ext cx="1298448" cy="8771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Reactor: </a:t>
            </a:r>
            <a:r>
              <a:rPr lang="en-US" sz="1100" dirty="0"/>
              <a:t>Large, Titanium, Volatile (Catastrophic)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890EC50-74D9-8F54-741A-9714982587BE}"/>
              </a:ext>
            </a:extLst>
          </p:cNvPr>
          <p:cNvSpPr txBox="1"/>
          <p:nvPr/>
        </p:nvSpPr>
        <p:spPr>
          <a:xfrm>
            <a:off x="5096256" y="3998898"/>
            <a:ext cx="1298448" cy="9848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Computer Console: </a:t>
            </a:r>
            <a:r>
              <a:rPr lang="en-US" sz="1100" dirty="0"/>
              <a:t>Large, Computer, Aluminum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CDBB0ED-9FD3-E276-3447-67D8AB9751C5}"/>
              </a:ext>
            </a:extLst>
          </p:cNvPr>
          <p:cNvSpPr txBox="1"/>
          <p:nvPr/>
        </p:nvSpPr>
        <p:spPr>
          <a:xfrm>
            <a:off x="512064" y="3998898"/>
            <a:ext cx="1298448" cy="9848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Computer Console: </a:t>
            </a:r>
            <a:r>
              <a:rPr lang="en-US" sz="1100" dirty="0"/>
              <a:t>Large, Computer, Aluminum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85846BD-95D8-5359-E6B5-D030A2F3187E}"/>
              </a:ext>
            </a:extLst>
          </p:cNvPr>
          <p:cNvSpPr txBox="1"/>
          <p:nvPr/>
        </p:nvSpPr>
        <p:spPr>
          <a:xfrm>
            <a:off x="512064" y="1526970"/>
            <a:ext cx="1298448" cy="9848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Computer Console: </a:t>
            </a:r>
            <a:r>
              <a:rPr lang="en-US" sz="1100" dirty="0"/>
              <a:t>Large, Computer, Aluminum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3601E65-3103-F84C-94E1-442F368098F3}"/>
              </a:ext>
            </a:extLst>
          </p:cNvPr>
          <p:cNvSpPr txBox="1"/>
          <p:nvPr/>
        </p:nvSpPr>
        <p:spPr>
          <a:xfrm>
            <a:off x="4974336" y="1526970"/>
            <a:ext cx="1298448" cy="9848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Computer Console: </a:t>
            </a:r>
            <a:r>
              <a:rPr lang="en-US" sz="1100" dirty="0"/>
              <a:t>Large, Computer, Aluminum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430000D-CDA0-010C-B9A3-51909F96E6E2}"/>
              </a:ext>
            </a:extLst>
          </p:cNvPr>
          <p:cNvSpPr txBox="1"/>
          <p:nvPr/>
        </p:nvSpPr>
        <p:spPr>
          <a:xfrm>
            <a:off x="512064" y="5425329"/>
            <a:ext cx="12984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Catwalk</a:t>
            </a:r>
            <a:endParaRPr lang="en-US" sz="11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ED0AC1C-73EA-CA20-2A07-9823421FFE1C}"/>
              </a:ext>
            </a:extLst>
          </p:cNvPr>
          <p:cNvSpPr txBox="1"/>
          <p:nvPr/>
        </p:nvSpPr>
        <p:spPr>
          <a:xfrm>
            <a:off x="5184648" y="5425329"/>
            <a:ext cx="12984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Catwalk</a:t>
            </a:r>
            <a:endParaRPr lang="en-US" sz="11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1FC5424-BFD4-08A4-3631-B0FD8008DB06}"/>
              </a:ext>
            </a:extLst>
          </p:cNvPr>
          <p:cNvSpPr txBox="1"/>
          <p:nvPr/>
        </p:nvSpPr>
        <p:spPr>
          <a:xfrm>
            <a:off x="512064" y="715979"/>
            <a:ext cx="12984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Catwalk</a:t>
            </a:r>
            <a:endParaRPr lang="en-US" sz="11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784DB42-E6E1-1944-DD9E-20D90A54253F}"/>
              </a:ext>
            </a:extLst>
          </p:cNvPr>
          <p:cNvSpPr txBox="1"/>
          <p:nvPr/>
        </p:nvSpPr>
        <p:spPr>
          <a:xfrm>
            <a:off x="5096256" y="614434"/>
            <a:ext cx="12984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Catwalk</a:t>
            </a:r>
            <a:endParaRPr lang="en-US" sz="11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C1FEDC6-96A9-21A8-F87E-FD8385A5C317}"/>
              </a:ext>
            </a:extLst>
          </p:cNvPr>
          <p:cNvSpPr txBox="1"/>
          <p:nvPr/>
        </p:nvSpPr>
        <p:spPr>
          <a:xfrm>
            <a:off x="7214616" y="393192"/>
            <a:ext cx="4581144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Door: Entry to the space – the players always enter from the bottom, all other space is oriented likewise. Doors are placed first when building a room. Can only use a door as cover if its closed. </a:t>
            </a:r>
          </a:p>
          <a:p>
            <a:r>
              <a:rPr lang="en-US" dirty="0"/>
              <a:t>Catwalk: Entrance to a catwalk. Can use a move while next to a catwalk to gain </a:t>
            </a:r>
            <a:r>
              <a:rPr lang="en-US" b="1" dirty="0"/>
              <a:t>elevation (cover from others who don’t have elevation). </a:t>
            </a:r>
            <a:r>
              <a:rPr lang="en-US" dirty="0"/>
              <a:t>Can move normally, but can only descend if </a:t>
            </a:r>
            <a:r>
              <a:rPr lang="en-US" b="1" dirty="0"/>
              <a:t>engaged</a:t>
            </a:r>
            <a:r>
              <a:rPr lang="en-US" dirty="0"/>
              <a:t> with another catwalk. </a:t>
            </a:r>
          </a:p>
          <a:p>
            <a:r>
              <a:rPr lang="en-US" dirty="0"/>
              <a:t>Computer Console: Large (up to 4 characters can use it for cover on a side), Computer (grants access to ship systems), Aluminum (Certain TGH rating and damage modifiers)</a:t>
            </a:r>
          </a:p>
          <a:p>
            <a:r>
              <a:rPr lang="en-US" dirty="0"/>
              <a:t>Reactor: Titanium (Certain TGH rating and damage modifiers), Large, Volatile (Catastrophic). If this object is destroyed, the hull, the ship, and all on it are also destroyed. </a:t>
            </a:r>
          </a:p>
        </p:txBody>
      </p:sp>
    </p:spTree>
    <p:extLst>
      <p:ext uri="{BB962C8B-B14F-4D97-AF65-F5344CB8AC3E}">
        <p14:creationId xmlns:p14="http://schemas.microsoft.com/office/powerpoint/2010/main" val="38002156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F3BD18-4596-25DE-BA97-AE5D5B090B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EBCFD90-4C66-3038-EB4F-463DAACEE5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0018941"/>
              </p:ext>
            </p:extLst>
          </p:nvPr>
        </p:nvGraphicFramePr>
        <p:xfrm>
          <a:off x="2400300" y="996958"/>
          <a:ext cx="6720840" cy="450799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6720840">
                  <a:extLst>
                    <a:ext uri="{9D8B030D-6E8A-4147-A177-3AD203B41FA5}">
                      <a16:colId xmlns:a16="http://schemas.microsoft.com/office/drawing/2014/main" val="2115971656"/>
                    </a:ext>
                  </a:extLst>
                </a:gridCol>
              </a:tblGrid>
              <a:tr h="1502664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57803333"/>
                  </a:ext>
                </a:extLst>
              </a:tr>
              <a:tr h="1502664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7812855"/>
                  </a:ext>
                </a:extLst>
              </a:tr>
              <a:tr h="1502664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7384772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E27CB9D2-B20D-F17C-D4BA-7DA1DB507914}"/>
              </a:ext>
            </a:extLst>
          </p:cNvPr>
          <p:cNvSpPr txBox="1"/>
          <p:nvPr/>
        </p:nvSpPr>
        <p:spPr>
          <a:xfrm>
            <a:off x="5044440" y="983718"/>
            <a:ext cx="12984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Door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C1D4C4A-B525-E289-B090-7464BF9C8AB8}"/>
              </a:ext>
            </a:extLst>
          </p:cNvPr>
          <p:cNvSpPr txBox="1"/>
          <p:nvPr/>
        </p:nvSpPr>
        <p:spPr>
          <a:xfrm>
            <a:off x="5044440" y="5135618"/>
            <a:ext cx="12984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Door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4DD859C-618D-F89F-5D64-600C32D9BBAC}"/>
              </a:ext>
            </a:extLst>
          </p:cNvPr>
          <p:cNvSpPr txBox="1"/>
          <p:nvPr/>
        </p:nvSpPr>
        <p:spPr>
          <a:xfrm>
            <a:off x="2170176" y="3059668"/>
            <a:ext cx="12984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Door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08861DF-848F-AD10-FA43-43968258826B}"/>
              </a:ext>
            </a:extLst>
          </p:cNvPr>
          <p:cNvSpPr txBox="1"/>
          <p:nvPr/>
        </p:nvSpPr>
        <p:spPr>
          <a:xfrm>
            <a:off x="7985760" y="3066288"/>
            <a:ext cx="12984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Door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7EC755-ABAF-FA4D-4912-B38302FA9154}"/>
              </a:ext>
            </a:extLst>
          </p:cNvPr>
          <p:cNvSpPr txBox="1"/>
          <p:nvPr/>
        </p:nvSpPr>
        <p:spPr>
          <a:xfrm>
            <a:off x="4558284" y="2975029"/>
            <a:ext cx="2404872" cy="5386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Sandbag Wall:</a:t>
            </a:r>
          </a:p>
          <a:p>
            <a:pPr algn="ctr"/>
            <a:r>
              <a:rPr lang="en-US" sz="1100" dirty="0"/>
              <a:t>Ringed, Sandbags</a:t>
            </a:r>
          </a:p>
        </p:txBody>
      </p:sp>
    </p:spTree>
    <p:extLst>
      <p:ext uri="{BB962C8B-B14F-4D97-AF65-F5344CB8AC3E}">
        <p14:creationId xmlns:p14="http://schemas.microsoft.com/office/powerpoint/2010/main" val="16934366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EB7CB5C-BC05-F626-4081-B3507D119C00}"/>
              </a:ext>
            </a:extLst>
          </p:cNvPr>
          <p:cNvSpPr/>
          <p:nvPr/>
        </p:nvSpPr>
        <p:spPr>
          <a:xfrm>
            <a:off x="4462272" y="310896"/>
            <a:ext cx="2350008" cy="4334256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CA96092-D0FA-0CFA-C4AA-C5F7E33CD351}"/>
              </a:ext>
            </a:extLst>
          </p:cNvPr>
          <p:cNvSpPr/>
          <p:nvPr/>
        </p:nvSpPr>
        <p:spPr>
          <a:xfrm>
            <a:off x="6812280" y="3712464"/>
            <a:ext cx="1088136" cy="2542032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2AB6B5F-D23B-9B0D-33F0-905CAA283DCD}"/>
              </a:ext>
            </a:extLst>
          </p:cNvPr>
          <p:cNvSpPr/>
          <p:nvPr/>
        </p:nvSpPr>
        <p:spPr>
          <a:xfrm>
            <a:off x="3374136" y="3712464"/>
            <a:ext cx="1088136" cy="2542032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B735A967-7BA5-7CB8-D5C3-26F4634FCF27}"/>
              </a:ext>
            </a:extLst>
          </p:cNvPr>
          <p:cNvSpPr/>
          <p:nvPr/>
        </p:nvSpPr>
        <p:spPr>
          <a:xfrm>
            <a:off x="3726180" y="82296"/>
            <a:ext cx="3822192" cy="1572768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40D3B61-7818-EEBB-B91F-5D62F67FEA6A}"/>
              </a:ext>
            </a:extLst>
          </p:cNvPr>
          <p:cNvSpPr/>
          <p:nvPr/>
        </p:nvSpPr>
        <p:spPr>
          <a:xfrm>
            <a:off x="4872323" y="374904"/>
            <a:ext cx="1552100" cy="9144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C916AE3-51DB-989F-BC0F-871856617127}"/>
              </a:ext>
            </a:extLst>
          </p:cNvPr>
          <p:cNvSpPr/>
          <p:nvPr/>
        </p:nvSpPr>
        <p:spPr>
          <a:xfrm>
            <a:off x="4582667" y="1426464"/>
            <a:ext cx="1022605" cy="9144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EEF1B1D-80E8-70D8-A583-2A9684D89082}"/>
              </a:ext>
            </a:extLst>
          </p:cNvPr>
          <p:cNvSpPr/>
          <p:nvPr/>
        </p:nvSpPr>
        <p:spPr>
          <a:xfrm>
            <a:off x="5654040" y="1426464"/>
            <a:ext cx="1072896" cy="9144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A129EE0-F7EE-E786-9F97-5AE5AB4DCB05}"/>
              </a:ext>
            </a:extLst>
          </p:cNvPr>
          <p:cNvSpPr/>
          <p:nvPr/>
        </p:nvSpPr>
        <p:spPr>
          <a:xfrm>
            <a:off x="4856226" y="2404872"/>
            <a:ext cx="1498092" cy="130759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4ADCF29-5162-6346-D821-B42B884A58E0}"/>
              </a:ext>
            </a:extLst>
          </p:cNvPr>
          <p:cNvSpPr/>
          <p:nvPr/>
        </p:nvSpPr>
        <p:spPr>
          <a:xfrm>
            <a:off x="5129784" y="3721608"/>
            <a:ext cx="950976" cy="9144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CACBA00-F751-5BE8-7A70-004E691DE0F1}"/>
              </a:ext>
            </a:extLst>
          </p:cNvPr>
          <p:cNvSpPr/>
          <p:nvPr/>
        </p:nvSpPr>
        <p:spPr>
          <a:xfrm>
            <a:off x="6384036" y="2350008"/>
            <a:ext cx="342900" cy="13716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B80B8CE-2C2A-21AD-D4C6-134C1ECC72F4}"/>
              </a:ext>
            </a:extLst>
          </p:cNvPr>
          <p:cNvSpPr/>
          <p:nvPr/>
        </p:nvSpPr>
        <p:spPr>
          <a:xfrm>
            <a:off x="4582667" y="2340864"/>
            <a:ext cx="248031" cy="13716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565EFDC-A8CB-627B-6971-F9F75C33E7B5}"/>
              </a:ext>
            </a:extLst>
          </p:cNvPr>
          <p:cNvSpPr/>
          <p:nvPr/>
        </p:nvSpPr>
        <p:spPr>
          <a:xfrm>
            <a:off x="3984687" y="4101084"/>
            <a:ext cx="248031" cy="200761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E67C544-B77A-9CB9-B56D-DB2D95E05205}"/>
              </a:ext>
            </a:extLst>
          </p:cNvPr>
          <p:cNvSpPr/>
          <p:nvPr/>
        </p:nvSpPr>
        <p:spPr>
          <a:xfrm>
            <a:off x="6989064" y="4101084"/>
            <a:ext cx="342900" cy="200761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7AF52E0-2A54-0D4D-93B6-B8FB97538C09}"/>
              </a:ext>
            </a:extLst>
          </p:cNvPr>
          <p:cNvSpPr/>
          <p:nvPr/>
        </p:nvSpPr>
        <p:spPr>
          <a:xfrm>
            <a:off x="5476875" y="3683794"/>
            <a:ext cx="248031" cy="6191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A298D1E-83C8-67BA-2C40-8C0812B902FF}"/>
              </a:ext>
            </a:extLst>
          </p:cNvPr>
          <p:cNvSpPr/>
          <p:nvPr/>
        </p:nvSpPr>
        <p:spPr>
          <a:xfrm rot="5400000">
            <a:off x="6245161" y="3462052"/>
            <a:ext cx="248031" cy="6191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F2B81CB-2CE8-B48D-B8F2-E395B915D1A4}"/>
              </a:ext>
            </a:extLst>
          </p:cNvPr>
          <p:cNvSpPr/>
          <p:nvPr/>
        </p:nvSpPr>
        <p:spPr>
          <a:xfrm rot="5400000">
            <a:off x="4717351" y="3462053"/>
            <a:ext cx="248031" cy="6191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164CF4E-A64C-E9D5-29E0-4442DFC6A379}"/>
              </a:ext>
            </a:extLst>
          </p:cNvPr>
          <p:cNvSpPr/>
          <p:nvPr/>
        </p:nvSpPr>
        <p:spPr>
          <a:xfrm>
            <a:off x="4582666" y="2326671"/>
            <a:ext cx="248031" cy="6191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E9F225D-E640-56FF-5B42-24EA516A0290}"/>
              </a:ext>
            </a:extLst>
          </p:cNvPr>
          <p:cNvSpPr/>
          <p:nvPr/>
        </p:nvSpPr>
        <p:spPr>
          <a:xfrm>
            <a:off x="6424423" y="2319052"/>
            <a:ext cx="248031" cy="6191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727EB65-C55C-B6D5-43A3-261FA012D7FF}"/>
              </a:ext>
            </a:extLst>
          </p:cNvPr>
          <p:cNvSpPr txBox="1"/>
          <p:nvPr/>
        </p:nvSpPr>
        <p:spPr>
          <a:xfrm>
            <a:off x="192024" y="155448"/>
            <a:ext cx="29352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Euripedes</a:t>
            </a:r>
            <a:r>
              <a:rPr lang="en-US" dirty="0"/>
              <a:t> Class </a:t>
            </a:r>
          </a:p>
          <a:p>
            <a:r>
              <a:rPr lang="en-US" dirty="0"/>
              <a:t>Light Support Vessel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1393CCB1-A158-B470-321F-6043BAF82DD3}"/>
              </a:ext>
            </a:extLst>
          </p:cNvPr>
          <p:cNvSpPr/>
          <p:nvPr/>
        </p:nvSpPr>
        <p:spPr>
          <a:xfrm>
            <a:off x="6424423" y="678688"/>
            <a:ext cx="640080" cy="60198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B458F06-5914-E622-580A-7D2E7A3C8601}"/>
              </a:ext>
            </a:extLst>
          </p:cNvPr>
          <p:cNvSpPr/>
          <p:nvPr/>
        </p:nvSpPr>
        <p:spPr>
          <a:xfrm>
            <a:off x="4232243" y="656081"/>
            <a:ext cx="640080" cy="60198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2DC3048-190F-82BE-8043-2862DBB72A36}"/>
              </a:ext>
            </a:extLst>
          </p:cNvPr>
          <p:cNvSpPr/>
          <p:nvPr/>
        </p:nvSpPr>
        <p:spPr>
          <a:xfrm rot="5400000">
            <a:off x="6311646" y="1057181"/>
            <a:ext cx="248031" cy="6191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4E2E990-32F0-1ED8-BAB0-8EACD951915F}"/>
              </a:ext>
            </a:extLst>
          </p:cNvPr>
          <p:cNvSpPr/>
          <p:nvPr/>
        </p:nvSpPr>
        <p:spPr>
          <a:xfrm rot="16200000">
            <a:off x="4748308" y="1054705"/>
            <a:ext cx="248031" cy="6191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EB5D274-F9FF-3753-68B2-B784694F6F2F}"/>
              </a:ext>
            </a:extLst>
          </p:cNvPr>
          <p:cNvSpPr txBox="1"/>
          <p:nvPr/>
        </p:nvSpPr>
        <p:spPr>
          <a:xfrm>
            <a:off x="5129784" y="576263"/>
            <a:ext cx="10226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Bridge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299C590-6AEF-BDD7-FCF3-848E8E6F47EE}"/>
              </a:ext>
            </a:extLst>
          </p:cNvPr>
          <p:cNvSpPr txBox="1"/>
          <p:nvPr/>
        </p:nvSpPr>
        <p:spPr>
          <a:xfrm>
            <a:off x="5089541" y="2902648"/>
            <a:ext cx="10226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Engineering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8F8C313-2B68-8A88-10DE-45B80EB5D68E}"/>
              </a:ext>
            </a:extLst>
          </p:cNvPr>
          <p:cNvSpPr txBox="1"/>
          <p:nvPr/>
        </p:nvSpPr>
        <p:spPr>
          <a:xfrm>
            <a:off x="6244879" y="785235"/>
            <a:ext cx="10226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Comms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50498C2-BA6F-469C-CC2C-9AF9ABB03961}"/>
              </a:ext>
            </a:extLst>
          </p:cNvPr>
          <p:cNvSpPr txBox="1"/>
          <p:nvPr/>
        </p:nvSpPr>
        <p:spPr>
          <a:xfrm>
            <a:off x="4180689" y="733503"/>
            <a:ext cx="7843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 err="1"/>
              <a:t>InterOps</a:t>
            </a:r>
            <a:endParaRPr lang="en-US" sz="120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8A04705-884C-F267-A144-D500A8DD9459}"/>
              </a:ext>
            </a:extLst>
          </p:cNvPr>
          <p:cNvSpPr txBox="1"/>
          <p:nvPr/>
        </p:nvSpPr>
        <p:spPr>
          <a:xfrm>
            <a:off x="4497323" y="1762208"/>
            <a:ext cx="10226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Medical (Large)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9A965C5-E9B0-1F08-D80A-71CDAFEA7282}"/>
              </a:ext>
            </a:extLst>
          </p:cNvPr>
          <p:cNvSpPr txBox="1"/>
          <p:nvPr/>
        </p:nvSpPr>
        <p:spPr>
          <a:xfrm>
            <a:off x="5670710" y="1775642"/>
            <a:ext cx="10226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Quarters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9DE62DC-800C-F27E-AF7A-FB746A3505FF}"/>
              </a:ext>
            </a:extLst>
          </p:cNvPr>
          <p:cNvSpPr txBox="1"/>
          <p:nvPr/>
        </p:nvSpPr>
        <p:spPr>
          <a:xfrm>
            <a:off x="5110734" y="4019115"/>
            <a:ext cx="10226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Cargo Bay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35659FC-DB1C-4FA0-3676-75BD8BC03377}"/>
              </a:ext>
            </a:extLst>
          </p:cNvPr>
          <p:cNvSpPr txBox="1"/>
          <p:nvPr/>
        </p:nvSpPr>
        <p:spPr>
          <a:xfrm>
            <a:off x="5884832" y="4865929"/>
            <a:ext cx="10226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Nacelle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AE7FA19-C30A-9195-DB89-4E697E119055}"/>
              </a:ext>
            </a:extLst>
          </p:cNvPr>
          <p:cNvSpPr txBox="1"/>
          <p:nvPr/>
        </p:nvSpPr>
        <p:spPr>
          <a:xfrm>
            <a:off x="4413933" y="4878258"/>
            <a:ext cx="10226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Nacelle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744DEE5-64BC-F911-BCA4-34A7C94998E4}"/>
              </a:ext>
            </a:extLst>
          </p:cNvPr>
          <p:cNvSpPr txBox="1"/>
          <p:nvPr/>
        </p:nvSpPr>
        <p:spPr>
          <a:xfrm>
            <a:off x="6648021" y="2620309"/>
            <a:ext cx="102269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Transit Corridor (Escape Pods)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6CF4177-7B30-9A31-612D-543AB5DA36A2}"/>
              </a:ext>
            </a:extLst>
          </p:cNvPr>
          <p:cNvSpPr txBox="1"/>
          <p:nvPr/>
        </p:nvSpPr>
        <p:spPr>
          <a:xfrm>
            <a:off x="3591449" y="2620309"/>
            <a:ext cx="102269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Transit Corridor (Escape Pods)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A04047CD-966A-1057-7472-615163C22DC7}"/>
              </a:ext>
            </a:extLst>
          </p:cNvPr>
          <p:cNvCxnSpPr/>
          <p:nvPr/>
        </p:nvCxnSpPr>
        <p:spPr>
          <a:xfrm flipV="1">
            <a:off x="4458225" y="2795588"/>
            <a:ext cx="248456" cy="428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835A18AD-F1E9-1BCB-08CA-3D2223709703}"/>
              </a:ext>
            </a:extLst>
          </p:cNvPr>
          <p:cNvCxnSpPr/>
          <p:nvPr/>
        </p:nvCxnSpPr>
        <p:spPr>
          <a:xfrm flipH="1" flipV="1">
            <a:off x="6555486" y="2790825"/>
            <a:ext cx="331089" cy="1118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81D6549E-EE40-6F70-62DF-E148C672F48B}"/>
              </a:ext>
            </a:extLst>
          </p:cNvPr>
          <p:cNvCxnSpPr/>
          <p:nvPr/>
        </p:nvCxnSpPr>
        <p:spPr>
          <a:xfrm flipH="1" flipV="1">
            <a:off x="4102798" y="4880782"/>
            <a:ext cx="511349" cy="13849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854B440B-6F0D-BB1E-739D-C15B2EDD75C7}"/>
              </a:ext>
            </a:extLst>
          </p:cNvPr>
          <p:cNvCxnSpPr/>
          <p:nvPr/>
        </p:nvCxnSpPr>
        <p:spPr>
          <a:xfrm flipV="1">
            <a:off x="6721030" y="4878258"/>
            <a:ext cx="438340" cy="13849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1" name="Right Brace 60">
            <a:extLst>
              <a:ext uri="{FF2B5EF4-FFF2-40B4-BE49-F238E27FC236}">
                <a16:creationId xmlns:a16="http://schemas.microsoft.com/office/drawing/2014/main" id="{AA1F3291-DADD-604A-C6C0-E7BA02E4E713}"/>
              </a:ext>
            </a:extLst>
          </p:cNvPr>
          <p:cNvSpPr/>
          <p:nvPr/>
        </p:nvSpPr>
        <p:spPr>
          <a:xfrm rot="16200000">
            <a:off x="5474012" y="4173759"/>
            <a:ext cx="276998" cy="839724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5DADF827-C301-6A03-1415-23B4B1FA83DA}"/>
              </a:ext>
            </a:extLst>
          </p:cNvPr>
          <p:cNvGrpSpPr/>
          <p:nvPr/>
        </p:nvGrpSpPr>
        <p:grpSpPr>
          <a:xfrm rot="5400000">
            <a:off x="5632054" y="1245961"/>
            <a:ext cx="360699" cy="169061"/>
            <a:chOff x="7544754" y="2350008"/>
            <a:chExt cx="651509" cy="270301"/>
          </a:xfrm>
        </p:grpSpPr>
        <p:sp>
          <p:nvSpPr>
            <p:cNvPr id="72" name="Arrow: Right 71">
              <a:extLst>
                <a:ext uri="{FF2B5EF4-FFF2-40B4-BE49-F238E27FC236}">
                  <a16:creationId xmlns:a16="http://schemas.microsoft.com/office/drawing/2014/main" id="{EE202FEA-A3CE-A7E1-9ADD-BD63E6F0B632}"/>
                </a:ext>
              </a:extLst>
            </p:cNvPr>
            <p:cNvSpPr/>
            <p:nvPr/>
          </p:nvSpPr>
          <p:spPr>
            <a:xfrm>
              <a:off x="7670719" y="2350008"/>
              <a:ext cx="525544" cy="270301"/>
            </a:xfrm>
            <a:prstGeom prst="rightArrow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Arrow: Right 72">
              <a:extLst>
                <a:ext uri="{FF2B5EF4-FFF2-40B4-BE49-F238E27FC236}">
                  <a16:creationId xmlns:a16="http://schemas.microsoft.com/office/drawing/2014/main" id="{38B25616-B084-72B9-8526-A71165F2AC86}"/>
                </a:ext>
              </a:extLst>
            </p:cNvPr>
            <p:cNvSpPr/>
            <p:nvPr/>
          </p:nvSpPr>
          <p:spPr>
            <a:xfrm rot="10800000">
              <a:off x="7544754" y="2356679"/>
              <a:ext cx="513160" cy="256960"/>
            </a:xfrm>
            <a:prstGeom prst="rightArrow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AC577417-256B-102C-861E-65B5C565CBB6}"/>
              </a:ext>
            </a:extLst>
          </p:cNvPr>
          <p:cNvGrpSpPr/>
          <p:nvPr/>
        </p:nvGrpSpPr>
        <p:grpSpPr>
          <a:xfrm rot="5400000">
            <a:off x="5228158" y="1256752"/>
            <a:ext cx="360699" cy="169061"/>
            <a:chOff x="7544754" y="2350008"/>
            <a:chExt cx="651509" cy="270301"/>
          </a:xfrm>
        </p:grpSpPr>
        <p:sp>
          <p:nvSpPr>
            <p:cNvPr id="75" name="Arrow: Right 74">
              <a:extLst>
                <a:ext uri="{FF2B5EF4-FFF2-40B4-BE49-F238E27FC236}">
                  <a16:creationId xmlns:a16="http://schemas.microsoft.com/office/drawing/2014/main" id="{4D96ED15-3DBB-F25B-A2F2-DAE1619E906F}"/>
                </a:ext>
              </a:extLst>
            </p:cNvPr>
            <p:cNvSpPr/>
            <p:nvPr/>
          </p:nvSpPr>
          <p:spPr>
            <a:xfrm>
              <a:off x="7670719" y="2350008"/>
              <a:ext cx="525544" cy="270301"/>
            </a:xfrm>
            <a:prstGeom prst="rightArrow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Arrow: Right 75">
              <a:extLst>
                <a:ext uri="{FF2B5EF4-FFF2-40B4-BE49-F238E27FC236}">
                  <a16:creationId xmlns:a16="http://schemas.microsoft.com/office/drawing/2014/main" id="{1E89ACB2-FEDF-33F8-8E06-276FE49F743A}"/>
                </a:ext>
              </a:extLst>
            </p:cNvPr>
            <p:cNvSpPr/>
            <p:nvPr/>
          </p:nvSpPr>
          <p:spPr>
            <a:xfrm rot="10800000">
              <a:off x="7544754" y="2356679"/>
              <a:ext cx="513160" cy="256960"/>
            </a:xfrm>
            <a:prstGeom prst="rightArrow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10DA0066-FF54-1372-30F1-406ACFBE87E9}"/>
              </a:ext>
            </a:extLst>
          </p:cNvPr>
          <p:cNvGrpSpPr/>
          <p:nvPr/>
        </p:nvGrpSpPr>
        <p:grpSpPr>
          <a:xfrm rot="5400000">
            <a:off x="5643668" y="2289780"/>
            <a:ext cx="360699" cy="169061"/>
            <a:chOff x="7544754" y="2350008"/>
            <a:chExt cx="651509" cy="270301"/>
          </a:xfrm>
        </p:grpSpPr>
        <p:sp>
          <p:nvSpPr>
            <p:cNvPr id="78" name="Arrow: Right 77">
              <a:extLst>
                <a:ext uri="{FF2B5EF4-FFF2-40B4-BE49-F238E27FC236}">
                  <a16:creationId xmlns:a16="http://schemas.microsoft.com/office/drawing/2014/main" id="{D5972C5E-CE60-3D48-2897-FD228ABF74A1}"/>
                </a:ext>
              </a:extLst>
            </p:cNvPr>
            <p:cNvSpPr/>
            <p:nvPr/>
          </p:nvSpPr>
          <p:spPr>
            <a:xfrm>
              <a:off x="7670719" y="2350008"/>
              <a:ext cx="525544" cy="270301"/>
            </a:xfrm>
            <a:prstGeom prst="rightArrow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Arrow: Right 78">
              <a:extLst>
                <a:ext uri="{FF2B5EF4-FFF2-40B4-BE49-F238E27FC236}">
                  <a16:creationId xmlns:a16="http://schemas.microsoft.com/office/drawing/2014/main" id="{6777A047-01A7-5891-7438-5758D6F5B46D}"/>
                </a:ext>
              </a:extLst>
            </p:cNvPr>
            <p:cNvSpPr/>
            <p:nvPr/>
          </p:nvSpPr>
          <p:spPr>
            <a:xfrm rot="10800000">
              <a:off x="7544754" y="2356679"/>
              <a:ext cx="513160" cy="256960"/>
            </a:xfrm>
            <a:prstGeom prst="rightArrow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429FEAE2-65E2-7C68-EA9C-7BE7FC1CE2F4}"/>
              </a:ext>
            </a:extLst>
          </p:cNvPr>
          <p:cNvGrpSpPr/>
          <p:nvPr/>
        </p:nvGrpSpPr>
        <p:grpSpPr>
          <a:xfrm rot="5400000">
            <a:off x="5228159" y="2288919"/>
            <a:ext cx="360699" cy="169061"/>
            <a:chOff x="7544754" y="2350008"/>
            <a:chExt cx="651509" cy="270301"/>
          </a:xfrm>
        </p:grpSpPr>
        <p:sp>
          <p:nvSpPr>
            <p:cNvPr id="81" name="Arrow: Right 80">
              <a:extLst>
                <a:ext uri="{FF2B5EF4-FFF2-40B4-BE49-F238E27FC236}">
                  <a16:creationId xmlns:a16="http://schemas.microsoft.com/office/drawing/2014/main" id="{F659B235-F2EB-4316-5E7A-CDE2180DC3C1}"/>
                </a:ext>
              </a:extLst>
            </p:cNvPr>
            <p:cNvSpPr/>
            <p:nvPr/>
          </p:nvSpPr>
          <p:spPr>
            <a:xfrm>
              <a:off x="7670719" y="2350008"/>
              <a:ext cx="525544" cy="270301"/>
            </a:xfrm>
            <a:prstGeom prst="rightArrow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Arrow: Right 81">
              <a:extLst>
                <a:ext uri="{FF2B5EF4-FFF2-40B4-BE49-F238E27FC236}">
                  <a16:creationId xmlns:a16="http://schemas.microsoft.com/office/drawing/2014/main" id="{D7CBE9FD-68DA-9F04-67D3-E46D9BB6745F}"/>
                </a:ext>
              </a:extLst>
            </p:cNvPr>
            <p:cNvSpPr/>
            <p:nvPr/>
          </p:nvSpPr>
          <p:spPr>
            <a:xfrm rot="10800000">
              <a:off x="7544754" y="2356679"/>
              <a:ext cx="513160" cy="256960"/>
            </a:xfrm>
            <a:prstGeom prst="rightArrow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F872F052-4A13-0282-BCB1-15B12ECDCD5A}"/>
              </a:ext>
            </a:extLst>
          </p:cNvPr>
          <p:cNvGrpSpPr/>
          <p:nvPr/>
        </p:nvGrpSpPr>
        <p:grpSpPr>
          <a:xfrm>
            <a:off x="5977008" y="4169777"/>
            <a:ext cx="1182361" cy="169061"/>
            <a:chOff x="7544754" y="2350008"/>
            <a:chExt cx="651509" cy="270301"/>
          </a:xfrm>
        </p:grpSpPr>
        <p:sp>
          <p:nvSpPr>
            <p:cNvPr id="84" name="Arrow: Right 83">
              <a:extLst>
                <a:ext uri="{FF2B5EF4-FFF2-40B4-BE49-F238E27FC236}">
                  <a16:creationId xmlns:a16="http://schemas.microsoft.com/office/drawing/2014/main" id="{585135BA-912D-33D9-FC5F-4A416AF416C4}"/>
                </a:ext>
              </a:extLst>
            </p:cNvPr>
            <p:cNvSpPr/>
            <p:nvPr/>
          </p:nvSpPr>
          <p:spPr>
            <a:xfrm>
              <a:off x="7670719" y="2350008"/>
              <a:ext cx="525544" cy="270301"/>
            </a:xfrm>
            <a:prstGeom prst="rightArrow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Arrow: Right 84">
              <a:extLst>
                <a:ext uri="{FF2B5EF4-FFF2-40B4-BE49-F238E27FC236}">
                  <a16:creationId xmlns:a16="http://schemas.microsoft.com/office/drawing/2014/main" id="{E9A37013-3665-7CD0-9F14-72E008F8ADFE}"/>
                </a:ext>
              </a:extLst>
            </p:cNvPr>
            <p:cNvSpPr/>
            <p:nvPr/>
          </p:nvSpPr>
          <p:spPr>
            <a:xfrm rot="10800000">
              <a:off x="7544754" y="2356679"/>
              <a:ext cx="513160" cy="256960"/>
            </a:xfrm>
            <a:prstGeom prst="rightArrow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06B9222D-25E0-E7A2-2E39-CBF533DBED5C}"/>
              </a:ext>
            </a:extLst>
          </p:cNvPr>
          <p:cNvGrpSpPr/>
          <p:nvPr/>
        </p:nvGrpSpPr>
        <p:grpSpPr>
          <a:xfrm>
            <a:off x="4118491" y="4157614"/>
            <a:ext cx="1126997" cy="169061"/>
            <a:chOff x="7544754" y="2350008"/>
            <a:chExt cx="651509" cy="270301"/>
          </a:xfrm>
        </p:grpSpPr>
        <p:sp>
          <p:nvSpPr>
            <p:cNvPr id="90" name="Arrow: Right 89">
              <a:extLst>
                <a:ext uri="{FF2B5EF4-FFF2-40B4-BE49-F238E27FC236}">
                  <a16:creationId xmlns:a16="http://schemas.microsoft.com/office/drawing/2014/main" id="{CF13691C-99A2-6CA2-4331-F36F3D63FA56}"/>
                </a:ext>
              </a:extLst>
            </p:cNvPr>
            <p:cNvSpPr/>
            <p:nvPr/>
          </p:nvSpPr>
          <p:spPr>
            <a:xfrm>
              <a:off x="7670719" y="2350008"/>
              <a:ext cx="525544" cy="270301"/>
            </a:xfrm>
            <a:prstGeom prst="rightArrow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Arrow: Right 90">
              <a:extLst>
                <a:ext uri="{FF2B5EF4-FFF2-40B4-BE49-F238E27FC236}">
                  <a16:creationId xmlns:a16="http://schemas.microsoft.com/office/drawing/2014/main" id="{1CDEFB76-A387-A016-6364-99F9B9F66883}"/>
                </a:ext>
              </a:extLst>
            </p:cNvPr>
            <p:cNvSpPr/>
            <p:nvPr/>
          </p:nvSpPr>
          <p:spPr>
            <a:xfrm rot="10800000">
              <a:off x="7544754" y="2356679"/>
              <a:ext cx="513160" cy="256960"/>
            </a:xfrm>
            <a:prstGeom prst="rightArrow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313395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</TotalTime>
  <Words>244</Words>
  <Application>Microsoft Office PowerPoint</Application>
  <PresentationFormat>Widescreen</PresentationFormat>
  <Paragraphs>34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Henry Pearson</dc:creator>
  <cp:lastModifiedBy>Henry Pearson</cp:lastModifiedBy>
  <cp:revision>2</cp:revision>
  <dcterms:created xsi:type="dcterms:W3CDTF">2026-01-01T19:24:00Z</dcterms:created>
  <dcterms:modified xsi:type="dcterms:W3CDTF">2026-01-01T21:13:12Z</dcterms:modified>
</cp:coreProperties>
</file>