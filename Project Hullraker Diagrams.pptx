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1AAB-1FDB-29DA-408B-51D56BAC2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8A9C4-892B-3A75-DD22-F2688EACB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4F8E2-B7A7-E8DD-953E-BDAA3E07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82FDE-5250-C602-624A-C0E4F3E6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E3693-E8B8-0698-AAE3-B4C4068A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6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ACF4-D48C-AB65-084F-A4B485CE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0BAF-41BB-56AC-6751-A11F645D0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D759D-2FFA-F56E-A021-B36ED68F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7F9CC-173E-1864-7DAC-C7A92024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48C38-724A-DBC2-32EB-B29EDD3F3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2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D1FC-E5C9-78A2-31C5-5D12AA77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9FACB-159E-0749-2B21-71C9B4546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9C7E0-CB1B-9FC1-A269-F6EA0B45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8A7C2-2EFA-5EFB-72F9-3E7972D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6CD3-22C3-7B95-01EA-25E42EFC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6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D4B5-CCCC-2572-63A2-310D8E5C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3AC41-B8F8-EEEF-9B10-CD29CEF55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205EF-20F1-2E64-9D71-CE4ADCAC7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9C7A7-6275-28D3-B0CF-5541BC6DC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7A6D2-CF6C-73D5-0DD1-6646EF24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7662A-4A33-B4F5-E3F6-A437CF84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7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5749-3853-FBDB-A009-7EA38712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841B9-640A-6BA6-4B00-EF01A5E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C15F4-4DFC-1222-58B8-D892475B6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29627-4876-01E2-7534-A96E7E4A8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F7B58-4FBC-5252-1C24-B1502EA83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91AAA-6D36-1286-49FA-6F980FDE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A401C-90AD-ED53-7BA3-DAF24F08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4EA0B-9C58-5785-D6CB-AA156E9D3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3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4151-2087-34A3-C874-58EC8613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242A9-EE94-0056-9DED-CEB62E1D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E692D-E54D-47EE-D331-751147964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CE65B-B91A-A3FC-010E-BFB0E8EB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F2E35-1071-BD59-1CD9-6B06A408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437C0-85B3-4E6F-5746-D883A4ABE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A9EF3-52CC-8115-59DD-F46C5336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5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11DE-3F32-CCCE-47D0-51738771C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687F-D478-F060-4D58-60F73EF67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3F35D-45D3-F116-4B2D-652042A63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C4C85-22D1-548B-D432-82CB2B52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B222E-0818-102D-A930-DD352681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EC2D6-A6C5-EA4C-B04C-F9353FDF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05E0-E0EA-0F22-C1CE-F1F5C47A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21FAC-B28B-9A44-DB15-291B10C2D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54F52-54D5-0A45-D5EE-55DF5B3CC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C808A-582B-E565-0A01-F356F456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DB122-C9B7-6415-7519-8B8B9BBA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0930E-B0DC-3DE8-4DC9-F25E6EA3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AFB1-6AC3-574E-651D-400BBBF0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C4D2E-9312-C121-75B4-B63BE9FF2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F27DE-D19A-8E86-5A97-BCBE8B09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C7C1-142B-C5F4-B95B-EA1437577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092BC-4D43-C641-9214-4320E049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2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4845C-7C77-7133-FFE9-47E61F36B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578A0-1C66-347A-2C16-03B414BDE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BFCBD-3D88-D0D6-B612-741FB779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47E7B-FCFF-A350-7AF3-D2667987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2260-0250-683D-0186-709E55A5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7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42135-E00A-E44F-D504-50D75003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3ED10-288F-1E5F-C328-F4A281664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563A8-EA9B-3E52-33C1-6FFC29938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8A4CC-0FCE-4549-B705-F62817C338D0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AA906-2A48-3354-B994-85791AF7C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6461E-82A4-FA6A-CDB1-796A6FA82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7BB9F-7579-4E93-8ADB-7CA9F1EB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0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E158F2-88DD-D7E7-B4AD-AA3A65350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422074"/>
              </p:ext>
            </p:extLst>
          </p:nvPr>
        </p:nvGraphicFramePr>
        <p:xfrm>
          <a:off x="100584" y="274320"/>
          <a:ext cx="6720840" cy="59618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115971656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3167834644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3390183887"/>
                    </a:ext>
                  </a:extLst>
                </a:gridCol>
              </a:tblGrid>
              <a:tr h="1192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803333"/>
                  </a:ext>
                </a:extLst>
              </a:tr>
              <a:tr h="11923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599739"/>
                  </a:ext>
                </a:extLst>
              </a:tr>
              <a:tr h="1192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4826056"/>
                  </a:ext>
                </a:extLst>
              </a:tr>
              <a:tr h="119237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822257"/>
                  </a:ext>
                </a:extLst>
              </a:tr>
              <a:tr h="11923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5213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A8487A8-B01F-D4E9-AEC4-E842724E507B}"/>
              </a:ext>
            </a:extLst>
          </p:cNvPr>
          <p:cNvSpPr txBox="1"/>
          <p:nvPr/>
        </p:nvSpPr>
        <p:spPr>
          <a:xfrm>
            <a:off x="2788920" y="42976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AA258-8EE6-98BC-98A7-A55E61A330B4}"/>
              </a:ext>
            </a:extLst>
          </p:cNvPr>
          <p:cNvSpPr txBox="1"/>
          <p:nvPr/>
        </p:nvSpPr>
        <p:spPr>
          <a:xfrm>
            <a:off x="2721864" y="5574792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D1329-842F-C057-D62F-A69A0331A4B8}"/>
              </a:ext>
            </a:extLst>
          </p:cNvPr>
          <p:cNvSpPr txBox="1"/>
          <p:nvPr/>
        </p:nvSpPr>
        <p:spPr>
          <a:xfrm>
            <a:off x="2721864" y="2816682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Reactor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0EC50-74D9-8F54-741A-9714982587BE}"/>
              </a:ext>
            </a:extLst>
          </p:cNvPr>
          <p:cNvSpPr txBox="1"/>
          <p:nvPr/>
        </p:nvSpPr>
        <p:spPr>
          <a:xfrm>
            <a:off x="5096256" y="3998898"/>
            <a:ext cx="129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Console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BB0ED-9FD3-E276-3447-67D8AB9751C5}"/>
              </a:ext>
            </a:extLst>
          </p:cNvPr>
          <p:cNvSpPr txBox="1"/>
          <p:nvPr/>
        </p:nvSpPr>
        <p:spPr>
          <a:xfrm>
            <a:off x="512064" y="3998898"/>
            <a:ext cx="129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Console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5846BD-95D8-5359-E6B5-D030A2F3187E}"/>
              </a:ext>
            </a:extLst>
          </p:cNvPr>
          <p:cNvSpPr txBox="1"/>
          <p:nvPr/>
        </p:nvSpPr>
        <p:spPr>
          <a:xfrm>
            <a:off x="512064" y="1526970"/>
            <a:ext cx="129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Console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01E65-3103-F84C-94E1-442F368098F3}"/>
              </a:ext>
            </a:extLst>
          </p:cNvPr>
          <p:cNvSpPr txBox="1"/>
          <p:nvPr/>
        </p:nvSpPr>
        <p:spPr>
          <a:xfrm>
            <a:off x="4974336" y="1526970"/>
            <a:ext cx="1298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Computer Console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1FEDC6-96A9-21A8-F87E-FD8385A5C317}"/>
              </a:ext>
            </a:extLst>
          </p:cNvPr>
          <p:cNvSpPr txBox="1"/>
          <p:nvPr/>
        </p:nvSpPr>
        <p:spPr>
          <a:xfrm>
            <a:off x="7214616" y="393192"/>
            <a:ext cx="458114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Door: Entry to the space – the players always enter from the bottom, all other space is oriented likewise. Doors are placed first when building a room. Can only use a door as cover if its closed. </a:t>
            </a:r>
          </a:p>
          <a:p>
            <a:r>
              <a:rPr lang="en-US" dirty="0"/>
              <a:t>Catwalk: Entrance to a catwalk. Can use a move while next to a catwalk to gain </a:t>
            </a:r>
            <a:r>
              <a:rPr lang="en-US" b="1" dirty="0"/>
              <a:t>elevation (cover from others who don’t have elevation). </a:t>
            </a:r>
            <a:r>
              <a:rPr lang="en-US" dirty="0"/>
              <a:t>Can move normally, but can only descend if </a:t>
            </a:r>
            <a:r>
              <a:rPr lang="en-US" b="1" dirty="0"/>
              <a:t>engaged</a:t>
            </a:r>
            <a:r>
              <a:rPr lang="en-US" dirty="0"/>
              <a:t> with another catwalk. </a:t>
            </a:r>
          </a:p>
          <a:p>
            <a:r>
              <a:rPr lang="en-US" dirty="0"/>
              <a:t>Computer Console</a:t>
            </a:r>
            <a:r>
              <a:rPr lang="en-US"/>
              <a:t>:  Computer </a:t>
            </a:r>
            <a:r>
              <a:rPr lang="en-US" dirty="0"/>
              <a:t>(grants access to ship systems), Aluminum (Certain TGH rating and damage modifiers)</a:t>
            </a:r>
          </a:p>
          <a:p>
            <a:r>
              <a:rPr lang="en-US" dirty="0"/>
              <a:t>Reactor: Titanium (Certain TGH rating and damage modifiers), Large, Volatile (Catastrophic). If this object is destroyed, the hull, the ship, and all on it are also destroyed. </a:t>
            </a:r>
          </a:p>
        </p:txBody>
      </p:sp>
    </p:spTree>
    <p:extLst>
      <p:ext uri="{BB962C8B-B14F-4D97-AF65-F5344CB8AC3E}">
        <p14:creationId xmlns:p14="http://schemas.microsoft.com/office/powerpoint/2010/main" val="380021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6357-2955-2B4E-89A1-95BDAD340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9CE8CB-43A4-C505-F993-704FF5B39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12092"/>
              </p:ext>
            </p:extLst>
          </p:nvPr>
        </p:nvGraphicFramePr>
        <p:xfrm>
          <a:off x="2400300" y="996958"/>
          <a:ext cx="6720840" cy="45079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115971656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342515225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1334408846"/>
                    </a:ext>
                  </a:extLst>
                </a:gridCol>
              </a:tblGrid>
              <a:tr h="15026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803333"/>
                  </a:ext>
                </a:extLst>
              </a:tr>
              <a:tr h="15026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812855"/>
                  </a:ext>
                </a:extLst>
              </a:tr>
              <a:tr h="150266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3847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40817D-C083-3623-C492-F0A30D4E67DF}"/>
              </a:ext>
            </a:extLst>
          </p:cNvPr>
          <p:cNvSpPr txBox="1"/>
          <p:nvPr/>
        </p:nvSpPr>
        <p:spPr>
          <a:xfrm>
            <a:off x="5044440" y="98371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C6F16-7594-8302-67CC-B454F2BAD739}"/>
              </a:ext>
            </a:extLst>
          </p:cNvPr>
          <p:cNvSpPr txBox="1"/>
          <p:nvPr/>
        </p:nvSpPr>
        <p:spPr>
          <a:xfrm>
            <a:off x="5044440" y="513561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59139-5327-59C3-0125-6710D92C9E63}"/>
              </a:ext>
            </a:extLst>
          </p:cNvPr>
          <p:cNvSpPr txBox="1"/>
          <p:nvPr/>
        </p:nvSpPr>
        <p:spPr>
          <a:xfrm>
            <a:off x="2170176" y="305966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D9A26-BD66-E3BB-B003-1E2552133686}"/>
              </a:ext>
            </a:extLst>
          </p:cNvPr>
          <p:cNvSpPr txBox="1"/>
          <p:nvPr/>
        </p:nvSpPr>
        <p:spPr>
          <a:xfrm>
            <a:off x="7985760" y="3066288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E060A-1BE3-D77B-1B9D-CE1E86C92185}"/>
              </a:ext>
            </a:extLst>
          </p:cNvPr>
          <p:cNvSpPr txBox="1"/>
          <p:nvPr/>
        </p:nvSpPr>
        <p:spPr>
          <a:xfrm>
            <a:off x="4558284" y="2975029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</p:spTree>
    <p:extLst>
      <p:ext uri="{BB962C8B-B14F-4D97-AF65-F5344CB8AC3E}">
        <p14:creationId xmlns:p14="http://schemas.microsoft.com/office/powerpoint/2010/main" val="332015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FC70-AEFC-4104-8C4A-9E6893A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2D7609-3810-6239-20E6-C0E083CFC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1080"/>
              </p:ext>
            </p:extLst>
          </p:nvPr>
        </p:nvGraphicFramePr>
        <p:xfrm>
          <a:off x="1883664" y="260341"/>
          <a:ext cx="8705088" cy="65196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01696">
                  <a:extLst>
                    <a:ext uri="{9D8B030D-6E8A-4147-A177-3AD203B41FA5}">
                      <a16:colId xmlns:a16="http://schemas.microsoft.com/office/drawing/2014/main" val="2115971656"/>
                    </a:ext>
                  </a:extLst>
                </a:gridCol>
                <a:gridCol w="2901696">
                  <a:extLst>
                    <a:ext uri="{9D8B030D-6E8A-4147-A177-3AD203B41FA5}">
                      <a16:colId xmlns:a16="http://schemas.microsoft.com/office/drawing/2014/main" val="1695238265"/>
                    </a:ext>
                  </a:extLst>
                </a:gridCol>
                <a:gridCol w="2901696">
                  <a:extLst>
                    <a:ext uri="{9D8B030D-6E8A-4147-A177-3AD203B41FA5}">
                      <a16:colId xmlns:a16="http://schemas.microsoft.com/office/drawing/2014/main" val="3765747969"/>
                    </a:ext>
                  </a:extLst>
                </a:gridCol>
              </a:tblGrid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7803333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028559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632794"/>
                  </a:ext>
                </a:extLst>
              </a:tr>
              <a:tr h="9313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31567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574895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204653"/>
                  </a:ext>
                </a:extLst>
              </a:tr>
              <a:tr h="93138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717425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46FFC7-25A7-2F0C-083D-D6830D7B3D50}"/>
              </a:ext>
            </a:extLst>
          </p:cNvPr>
          <p:cNvSpPr txBox="1"/>
          <p:nvPr/>
        </p:nvSpPr>
        <p:spPr>
          <a:xfrm>
            <a:off x="5586984" y="-30095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9FE0A-F9BC-ECB6-0DFB-57D121288FE8}"/>
              </a:ext>
            </a:extLst>
          </p:cNvPr>
          <p:cNvSpPr txBox="1"/>
          <p:nvPr/>
        </p:nvSpPr>
        <p:spPr>
          <a:xfrm>
            <a:off x="5586984" y="6319504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76409D-004A-6FFE-91D0-82FE54236F39}"/>
              </a:ext>
            </a:extLst>
          </p:cNvPr>
          <p:cNvSpPr txBox="1"/>
          <p:nvPr/>
        </p:nvSpPr>
        <p:spPr>
          <a:xfrm>
            <a:off x="862584" y="3346179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E1914-F34F-930B-D899-AB964B5CAE7F}"/>
              </a:ext>
            </a:extLst>
          </p:cNvPr>
          <p:cNvSpPr txBox="1"/>
          <p:nvPr/>
        </p:nvSpPr>
        <p:spPr>
          <a:xfrm>
            <a:off x="10311384" y="3335512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5C270-A42E-3EDB-5AB5-353DD0709979}"/>
              </a:ext>
            </a:extLst>
          </p:cNvPr>
          <p:cNvSpPr txBox="1"/>
          <p:nvPr/>
        </p:nvSpPr>
        <p:spPr>
          <a:xfrm>
            <a:off x="5033772" y="4188133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0C581-9DAC-F2B3-56AE-D6760A585ACD}"/>
              </a:ext>
            </a:extLst>
          </p:cNvPr>
          <p:cNvSpPr txBox="1"/>
          <p:nvPr/>
        </p:nvSpPr>
        <p:spPr>
          <a:xfrm>
            <a:off x="5033772" y="2341046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945D43-055D-EDF9-3E68-6813FE64595D}"/>
              </a:ext>
            </a:extLst>
          </p:cNvPr>
          <p:cNvSpPr txBox="1"/>
          <p:nvPr/>
        </p:nvSpPr>
        <p:spPr>
          <a:xfrm>
            <a:off x="2013204" y="5145205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3FFBE-DBF9-F126-2CDD-B2E85E807586}"/>
              </a:ext>
            </a:extLst>
          </p:cNvPr>
          <p:cNvSpPr txBox="1"/>
          <p:nvPr/>
        </p:nvSpPr>
        <p:spPr>
          <a:xfrm>
            <a:off x="7830312" y="1377877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6F00C-164D-8A02-2041-B48CBA13D08E}"/>
              </a:ext>
            </a:extLst>
          </p:cNvPr>
          <p:cNvSpPr txBox="1"/>
          <p:nvPr/>
        </p:nvSpPr>
        <p:spPr>
          <a:xfrm>
            <a:off x="2040636" y="1377877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10CBE-5291-EAE2-8F8B-43BBA2361908}"/>
              </a:ext>
            </a:extLst>
          </p:cNvPr>
          <p:cNvSpPr txBox="1"/>
          <p:nvPr/>
        </p:nvSpPr>
        <p:spPr>
          <a:xfrm>
            <a:off x="7830312" y="5145204"/>
            <a:ext cx="24048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Sandbag Wall:</a:t>
            </a:r>
          </a:p>
          <a:p>
            <a:pPr algn="ctr"/>
            <a:r>
              <a:rPr lang="en-US" sz="1100" dirty="0"/>
              <a:t>Ringed, Sandbags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639D24C-B40C-8223-848B-E601E5D066A6}"/>
              </a:ext>
            </a:extLst>
          </p:cNvPr>
          <p:cNvSpPr/>
          <p:nvPr/>
        </p:nvSpPr>
        <p:spPr>
          <a:xfrm>
            <a:off x="9168384" y="5308909"/>
            <a:ext cx="417576" cy="3749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73F35D-461F-6BF4-EB7E-59DE8581A516}"/>
              </a:ext>
            </a:extLst>
          </p:cNvPr>
          <p:cNvSpPr/>
          <p:nvPr/>
        </p:nvSpPr>
        <p:spPr>
          <a:xfrm>
            <a:off x="3006852" y="1374384"/>
            <a:ext cx="417576" cy="37490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26F3DE-40C5-B43B-00FF-4E46BE919D5C}"/>
              </a:ext>
            </a:extLst>
          </p:cNvPr>
          <p:cNvSpPr/>
          <p:nvPr/>
        </p:nvSpPr>
        <p:spPr>
          <a:xfrm>
            <a:off x="8959596" y="1459729"/>
            <a:ext cx="417576" cy="37490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678E0B-B34B-BE03-B639-5D25DC492740}"/>
              </a:ext>
            </a:extLst>
          </p:cNvPr>
          <p:cNvSpPr/>
          <p:nvPr/>
        </p:nvSpPr>
        <p:spPr>
          <a:xfrm>
            <a:off x="8959596" y="371503"/>
            <a:ext cx="417576" cy="37490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C2636-9A96-C933-769B-0BC02D21F56F}"/>
              </a:ext>
            </a:extLst>
          </p:cNvPr>
          <p:cNvSpPr txBox="1"/>
          <p:nvPr/>
        </p:nvSpPr>
        <p:spPr>
          <a:xfrm>
            <a:off x="1042416" y="339237"/>
            <a:ext cx="63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8BBA5-D82F-2178-BFEF-97BE157A250A}"/>
              </a:ext>
            </a:extLst>
          </p:cNvPr>
          <p:cNvSpPr txBox="1"/>
          <p:nvPr/>
        </p:nvSpPr>
        <p:spPr>
          <a:xfrm>
            <a:off x="1042416" y="1289304"/>
            <a:ext cx="56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F9C72-1757-5781-31AC-424D1FF0E080}"/>
              </a:ext>
            </a:extLst>
          </p:cNvPr>
          <p:cNvSpPr txBox="1"/>
          <p:nvPr/>
        </p:nvSpPr>
        <p:spPr>
          <a:xfrm>
            <a:off x="1042416" y="2341046"/>
            <a:ext cx="438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72DCFA-F7C4-A3B1-5FC4-4C7ADA4CDA2F}"/>
              </a:ext>
            </a:extLst>
          </p:cNvPr>
          <p:cNvSpPr txBox="1"/>
          <p:nvPr/>
        </p:nvSpPr>
        <p:spPr>
          <a:xfrm>
            <a:off x="862584" y="317296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9525C-5BF2-AA0F-EEB0-785516F83F82}"/>
              </a:ext>
            </a:extLst>
          </p:cNvPr>
          <p:cNvSpPr txBox="1"/>
          <p:nvPr/>
        </p:nvSpPr>
        <p:spPr>
          <a:xfrm>
            <a:off x="795528" y="4315968"/>
            <a:ext cx="87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538C2B-AFD7-8419-EF2C-CDA334E75431}"/>
              </a:ext>
            </a:extLst>
          </p:cNvPr>
          <p:cNvSpPr txBox="1"/>
          <p:nvPr/>
        </p:nvSpPr>
        <p:spPr>
          <a:xfrm>
            <a:off x="1179576" y="5145204"/>
            <a:ext cx="704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621CE2-40C3-5C83-BB4A-83092C8328D6}"/>
              </a:ext>
            </a:extLst>
          </p:cNvPr>
          <p:cNvSpPr txBox="1"/>
          <p:nvPr/>
        </p:nvSpPr>
        <p:spPr>
          <a:xfrm>
            <a:off x="1179576" y="6044184"/>
            <a:ext cx="493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4601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B7CB5C-BC05-F626-4081-B3507D119C00}"/>
              </a:ext>
            </a:extLst>
          </p:cNvPr>
          <p:cNvSpPr/>
          <p:nvPr/>
        </p:nvSpPr>
        <p:spPr>
          <a:xfrm>
            <a:off x="4462272" y="310896"/>
            <a:ext cx="2350008" cy="433425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A96092-D0FA-0CFA-C4AA-C5F7E33CD351}"/>
              </a:ext>
            </a:extLst>
          </p:cNvPr>
          <p:cNvSpPr/>
          <p:nvPr/>
        </p:nvSpPr>
        <p:spPr>
          <a:xfrm>
            <a:off x="6812280" y="3712464"/>
            <a:ext cx="1088136" cy="25420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AB6B5F-D23B-9B0D-33F0-905CAA283DCD}"/>
              </a:ext>
            </a:extLst>
          </p:cNvPr>
          <p:cNvSpPr/>
          <p:nvPr/>
        </p:nvSpPr>
        <p:spPr>
          <a:xfrm>
            <a:off x="3374136" y="3712464"/>
            <a:ext cx="1088136" cy="25420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5A967-7BA5-7CB8-D5C3-26F4634FCF27}"/>
              </a:ext>
            </a:extLst>
          </p:cNvPr>
          <p:cNvSpPr/>
          <p:nvPr/>
        </p:nvSpPr>
        <p:spPr>
          <a:xfrm>
            <a:off x="3726180" y="82296"/>
            <a:ext cx="3822192" cy="15727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0D3B61-7818-EEBB-B91F-5D62F67FEA6A}"/>
              </a:ext>
            </a:extLst>
          </p:cNvPr>
          <p:cNvSpPr/>
          <p:nvPr/>
        </p:nvSpPr>
        <p:spPr>
          <a:xfrm>
            <a:off x="4872323" y="374904"/>
            <a:ext cx="1552100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6AE3-51DB-989F-BC0F-871856617127}"/>
              </a:ext>
            </a:extLst>
          </p:cNvPr>
          <p:cNvSpPr/>
          <p:nvPr/>
        </p:nvSpPr>
        <p:spPr>
          <a:xfrm>
            <a:off x="4582667" y="1426464"/>
            <a:ext cx="1022605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EF1B1D-80E8-70D8-A583-2A9684D89082}"/>
              </a:ext>
            </a:extLst>
          </p:cNvPr>
          <p:cNvSpPr/>
          <p:nvPr/>
        </p:nvSpPr>
        <p:spPr>
          <a:xfrm>
            <a:off x="5654040" y="1426464"/>
            <a:ext cx="107289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129EE0-F7EE-E786-9F97-5AE5AB4DCB05}"/>
              </a:ext>
            </a:extLst>
          </p:cNvPr>
          <p:cNvSpPr/>
          <p:nvPr/>
        </p:nvSpPr>
        <p:spPr>
          <a:xfrm>
            <a:off x="4856226" y="2404872"/>
            <a:ext cx="1498092" cy="1307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ADCF29-5162-6346-D821-B42B884A58E0}"/>
              </a:ext>
            </a:extLst>
          </p:cNvPr>
          <p:cNvSpPr/>
          <p:nvPr/>
        </p:nvSpPr>
        <p:spPr>
          <a:xfrm>
            <a:off x="5129784" y="3721608"/>
            <a:ext cx="950976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ACBA00-F751-5BE8-7A70-004E691DE0F1}"/>
              </a:ext>
            </a:extLst>
          </p:cNvPr>
          <p:cNvSpPr/>
          <p:nvPr/>
        </p:nvSpPr>
        <p:spPr>
          <a:xfrm>
            <a:off x="6384036" y="2350008"/>
            <a:ext cx="342900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80B8CE-2C2A-21AD-D4C6-134C1ECC72F4}"/>
              </a:ext>
            </a:extLst>
          </p:cNvPr>
          <p:cNvSpPr/>
          <p:nvPr/>
        </p:nvSpPr>
        <p:spPr>
          <a:xfrm>
            <a:off x="4582667" y="2340864"/>
            <a:ext cx="248031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65EFDC-A8CB-627B-6971-F9F75C33E7B5}"/>
              </a:ext>
            </a:extLst>
          </p:cNvPr>
          <p:cNvSpPr/>
          <p:nvPr/>
        </p:nvSpPr>
        <p:spPr>
          <a:xfrm>
            <a:off x="3984687" y="4101084"/>
            <a:ext cx="248031" cy="20076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67C544-B77A-9CB9-B56D-DB2D95E05205}"/>
              </a:ext>
            </a:extLst>
          </p:cNvPr>
          <p:cNvSpPr/>
          <p:nvPr/>
        </p:nvSpPr>
        <p:spPr>
          <a:xfrm>
            <a:off x="6989064" y="4101084"/>
            <a:ext cx="342900" cy="20076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AF52E0-2A54-0D4D-93B6-B8FB97538C09}"/>
              </a:ext>
            </a:extLst>
          </p:cNvPr>
          <p:cNvSpPr/>
          <p:nvPr/>
        </p:nvSpPr>
        <p:spPr>
          <a:xfrm>
            <a:off x="5476875" y="3683794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98D1E-83C8-67BA-2C40-8C0812B902FF}"/>
              </a:ext>
            </a:extLst>
          </p:cNvPr>
          <p:cNvSpPr/>
          <p:nvPr/>
        </p:nvSpPr>
        <p:spPr>
          <a:xfrm rot="5400000">
            <a:off x="6245161" y="3462052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2B81CB-2CE8-B48D-B8F2-E395B915D1A4}"/>
              </a:ext>
            </a:extLst>
          </p:cNvPr>
          <p:cNvSpPr/>
          <p:nvPr/>
        </p:nvSpPr>
        <p:spPr>
          <a:xfrm rot="5400000">
            <a:off x="4717351" y="3462053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64CF4E-A64C-E9D5-29E0-4442DFC6A379}"/>
              </a:ext>
            </a:extLst>
          </p:cNvPr>
          <p:cNvSpPr/>
          <p:nvPr/>
        </p:nvSpPr>
        <p:spPr>
          <a:xfrm>
            <a:off x="4582666" y="2326671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9F225D-E640-56FF-5B42-24EA516A0290}"/>
              </a:ext>
            </a:extLst>
          </p:cNvPr>
          <p:cNvSpPr/>
          <p:nvPr/>
        </p:nvSpPr>
        <p:spPr>
          <a:xfrm>
            <a:off x="6424423" y="2319052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27EB65-C55C-B6D5-43A3-261FA012D7FF}"/>
              </a:ext>
            </a:extLst>
          </p:cNvPr>
          <p:cNvSpPr txBox="1"/>
          <p:nvPr/>
        </p:nvSpPr>
        <p:spPr>
          <a:xfrm>
            <a:off x="192024" y="155448"/>
            <a:ext cx="293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Euripedes</a:t>
            </a:r>
            <a:r>
              <a:rPr lang="en-US" dirty="0"/>
              <a:t> Class </a:t>
            </a:r>
          </a:p>
          <a:p>
            <a:r>
              <a:rPr lang="en-US" dirty="0"/>
              <a:t>Light Support Vessel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93CCB1-A158-B470-321F-6043BAF82DD3}"/>
              </a:ext>
            </a:extLst>
          </p:cNvPr>
          <p:cNvSpPr/>
          <p:nvPr/>
        </p:nvSpPr>
        <p:spPr>
          <a:xfrm>
            <a:off x="6424423" y="678688"/>
            <a:ext cx="640080" cy="6019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458F06-5914-E622-580A-7D2E7A3C8601}"/>
              </a:ext>
            </a:extLst>
          </p:cNvPr>
          <p:cNvSpPr/>
          <p:nvPr/>
        </p:nvSpPr>
        <p:spPr>
          <a:xfrm>
            <a:off x="4232243" y="656081"/>
            <a:ext cx="640080" cy="6019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2DC3048-190F-82BE-8043-2862DBB72A36}"/>
              </a:ext>
            </a:extLst>
          </p:cNvPr>
          <p:cNvSpPr/>
          <p:nvPr/>
        </p:nvSpPr>
        <p:spPr>
          <a:xfrm rot="5400000">
            <a:off x="6311646" y="1057181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E2E990-32F0-1ED8-BAB0-8EACD951915F}"/>
              </a:ext>
            </a:extLst>
          </p:cNvPr>
          <p:cNvSpPr/>
          <p:nvPr/>
        </p:nvSpPr>
        <p:spPr>
          <a:xfrm rot="16200000">
            <a:off x="4748308" y="1054705"/>
            <a:ext cx="248031" cy="619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B5D274-F9FF-3753-68B2-B784694F6F2F}"/>
              </a:ext>
            </a:extLst>
          </p:cNvPr>
          <p:cNvSpPr txBox="1"/>
          <p:nvPr/>
        </p:nvSpPr>
        <p:spPr>
          <a:xfrm>
            <a:off x="5129784" y="576263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Bridge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99C590-6AEF-BDD7-FCF3-848E8E6F47EE}"/>
              </a:ext>
            </a:extLst>
          </p:cNvPr>
          <p:cNvSpPr txBox="1"/>
          <p:nvPr/>
        </p:nvSpPr>
        <p:spPr>
          <a:xfrm>
            <a:off x="5089541" y="2902648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Engineering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F8C313-2B68-8A88-10DE-45B80EB5D68E}"/>
              </a:ext>
            </a:extLst>
          </p:cNvPr>
          <p:cNvSpPr txBox="1"/>
          <p:nvPr/>
        </p:nvSpPr>
        <p:spPr>
          <a:xfrm>
            <a:off x="6244879" y="785235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Comms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0498C2-BA6F-469C-CC2C-9AF9ABB03961}"/>
              </a:ext>
            </a:extLst>
          </p:cNvPr>
          <p:cNvSpPr txBox="1"/>
          <p:nvPr/>
        </p:nvSpPr>
        <p:spPr>
          <a:xfrm>
            <a:off x="4180689" y="733503"/>
            <a:ext cx="784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InterOps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A04705-884C-F267-A144-D500A8DD9459}"/>
              </a:ext>
            </a:extLst>
          </p:cNvPr>
          <p:cNvSpPr txBox="1"/>
          <p:nvPr/>
        </p:nvSpPr>
        <p:spPr>
          <a:xfrm>
            <a:off x="4497323" y="1762208"/>
            <a:ext cx="10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Medical (Large)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A965C5-E9B0-1F08-D80A-71CDAFEA7282}"/>
              </a:ext>
            </a:extLst>
          </p:cNvPr>
          <p:cNvSpPr txBox="1"/>
          <p:nvPr/>
        </p:nvSpPr>
        <p:spPr>
          <a:xfrm>
            <a:off x="5670710" y="1775642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Quarters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9DE62DC-800C-F27E-AF7A-FB746A3505FF}"/>
              </a:ext>
            </a:extLst>
          </p:cNvPr>
          <p:cNvSpPr txBox="1"/>
          <p:nvPr/>
        </p:nvSpPr>
        <p:spPr>
          <a:xfrm>
            <a:off x="5110734" y="4019115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Cargo Bay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35659FC-DB1C-4FA0-3676-75BD8BC03377}"/>
              </a:ext>
            </a:extLst>
          </p:cNvPr>
          <p:cNvSpPr txBox="1"/>
          <p:nvPr/>
        </p:nvSpPr>
        <p:spPr>
          <a:xfrm>
            <a:off x="5884832" y="4865929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Nacelle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E7FA19-C30A-9195-DB89-4E697E119055}"/>
              </a:ext>
            </a:extLst>
          </p:cNvPr>
          <p:cNvSpPr txBox="1"/>
          <p:nvPr/>
        </p:nvSpPr>
        <p:spPr>
          <a:xfrm>
            <a:off x="4413933" y="4878258"/>
            <a:ext cx="1022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Nacelle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44DEE5-64BC-F911-BCA4-34A7C94998E4}"/>
              </a:ext>
            </a:extLst>
          </p:cNvPr>
          <p:cNvSpPr txBox="1"/>
          <p:nvPr/>
        </p:nvSpPr>
        <p:spPr>
          <a:xfrm>
            <a:off x="6648021" y="2620309"/>
            <a:ext cx="10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Transit Corridor (Escape Pods)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CF4177-7B30-9A31-612D-543AB5DA36A2}"/>
              </a:ext>
            </a:extLst>
          </p:cNvPr>
          <p:cNvSpPr txBox="1"/>
          <p:nvPr/>
        </p:nvSpPr>
        <p:spPr>
          <a:xfrm>
            <a:off x="3591449" y="2620309"/>
            <a:ext cx="102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Transit Corridor (Escape Pods)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04047CD-966A-1057-7472-615163C22DC7}"/>
              </a:ext>
            </a:extLst>
          </p:cNvPr>
          <p:cNvCxnSpPr/>
          <p:nvPr/>
        </p:nvCxnSpPr>
        <p:spPr>
          <a:xfrm flipV="1">
            <a:off x="4458225" y="2795588"/>
            <a:ext cx="248456" cy="42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35A18AD-F1E9-1BCB-08CA-3D2223709703}"/>
              </a:ext>
            </a:extLst>
          </p:cNvPr>
          <p:cNvCxnSpPr/>
          <p:nvPr/>
        </p:nvCxnSpPr>
        <p:spPr>
          <a:xfrm flipH="1" flipV="1">
            <a:off x="6555486" y="2790825"/>
            <a:ext cx="331089" cy="111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1D6549E-EE40-6F70-62DF-E148C672F48B}"/>
              </a:ext>
            </a:extLst>
          </p:cNvPr>
          <p:cNvCxnSpPr/>
          <p:nvPr/>
        </p:nvCxnSpPr>
        <p:spPr>
          <a:xfrm flipH="1" flipV="1">
            <a:off x="4102798" y="4880782"/>
            <a:ext cx="511349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54B440B-6F0D-BB1E-739D-C15B2EDD75C7}"/>
              </a:ext>
            </a:extLst>
          </p:cNvPr>
          <p:cNvCxnSpPr/>
          <p:nvPr/>
        </p:nvCxnSpPr>
        <p:spPr>
          <a:xfrm flipV="1">
            <a:off x="6721030" y="4878258"/>
            <a:ext cx="438340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Right Brace 60">
            <a:extLst>
              <a:ext uri="{FF2B5EF4-FFF2-40B4-BE49-F238E27FC236}">
                <a16:creationId xmlns:a16="http://schemas.microsoft.com/office/drawing/2014/main" id="{AA1F3291-DADD-604A-C6C0-E7BA02E4E713}"/>
              </a:ext>
            </a:extLst>
          </p:cNvPr>
          <p:cNvSpPr/>
          <p:nvPr/>
        </p:nvSpPr>
        <p:spPr>
          <a:xfrm rot="16200000">
            <a:off x="5474012" y="4173759"/>
            <a:ext cx="276998" cy="83972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DADF827-C301-6A03-1415-23B4B1FA83DA}"/>
              </a:ext>
            </a:extLst>
          </p:cNvPr>
          <p:cNvGrpSpPr/>
          <p:nvPr/>
        </p:nvGrpSpPr>
        <p:grpSpPr>
          <a:xfrm rot="5400000">
            <a:off x="5632054" y="1245961"/>
            <a:ext cx="360699" cy="169061"/>
            <a:chOff x="7544754" y="2350008"/>
            <a:chExt cx="651509" cy="270301"/>
          </a:xfrm>
        </p:grpSpPr>
        <p:sp>
          <p:nvSpPr>
            <p:cNvPr id="72" name="Arrow: Right 71">
              <a:extLst>
                <a:ext uri="{FF2B5EF4-FFF2-40B4-BE49-F238E27FC236}">
                  <a16:creationId xmlns:a16="http://schemas.microsoft.com/office/drawing/2014/main" id="{EE202FEA-A3CE-A7E1-9ADD-BD63E6F0B632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38B25616-B084-72B9-8526-A71165F2AC86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C577417-256B-102C-861E-65B5C565CBB6}"/>
              </a:ext>
            </a:extLst>
          </p:cNvPr>
          <p:cNvGrpSpPr/>
          <p:nvPr/>
        </p:nvGrpSpPr>
        <p:grpSpPr>
          <a:xfrm rot="5400000">
            <a:off x="5228158" y="1256752"/>
            <a:ext cx="360699" cy="169061"/>
            <a:chOff x="7544754" y="2350008"/>
            <a:chExt cx="651509" cy="270301"/>
          </a:xfrm>
        </p:grpSpPr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4D96ED15-3DBB-F25B-A2F2-DAE1619E906F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1E89ACB2-FEDF-33F8-8E06-276FE49F743A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0DA0066-FF54-1372-30F1-406ACFBE87E9}"/>
              </a:ext>
            </a:extLst>
          </p:cNvPr>
          <p:cNvGrpSpPr/>
          <p:nvPr/>
        </p:nvGrpSpPr>
        <p:grpSpPr>
          <a:xfrm rot="5400000">
            <a:off x="5643668" y="2289780"/>
            <a:ext cx="360699" cy="169061"/>
            <a:chOff x="7544754" y="2350008"/>
            <a:chExt cx="651509" cy="270301"/>
          </a:xfrm>
        </p:grpSpPr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D5972C5E-CE60-3D48-2897-FD228ABF74A1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Arrow: Right 78">
              <a:extLst>
                <a:ext uri="{FF2B5EF4-FFF2-40B4-BE49-F238E27FC236}">
                  <a16:creationId xmlns:a16="http://schemas.microsoft.com/office/drawing/2014/main" id="{6777A047-01A7-5891-7438-5758D6F5B46D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29FEAE2-65E2-7C68-EA9C-7BE7FC1CE2F4}"/>
              </a:ext>
            </a:extLst>
          </p:cNvPr>
          <p:cNvGrpSpPr/>
          <p:nvPr/>
        </p:nvGrpSpPr>
        <p:grpSpPr>
          <a:xfrm rot="5400000">
            <a:off x="5228159" y="2288919"/>
            <a:ext cx="360699" cy="169061"/>
            <a:chOff x="7544754" y="2350008"/>
            <a:chExt cx="651509" cy="270301"/>
          </a:xfrm>
        </p:grpSpPr>
        <p:sp>
          <p:nvSpPr>
            <p:cNvPr id="81" name="Arrow: Right 80">
              <a:extLst>
                <a:ext uri="{FF2B5EF4-FFF2-40B4-BE49-F238E27FC236}">
                  <a16:creationId xmlns:a16="http://schemas.microsoft.com/office/drawing/2014/main" id="{F659B235-F2EB-4316-5E7A-CDE2180DC3C1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Arrow: Right 81">
              <a:extLst>
                <a:ext uri="{FF2B5EF4-FFF2-40B4-BE49-F238E27FC236}">
                  <a16:creationId xmlns:a16="http://schemas.microsoft.com/office/drawing/2014/main" id="{D7CBE9FD-68DA-9F04-67D3-E46D9BB6745F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872F052-4A13-0282-BCB1-15B12ECDCD5A}"/>
              </a:ext>
            </a:extLst>
          </p:cNvPr>
          <p:cNvGrpSpPr/>
          <p:nvPr/>
        </p:nvGrpSpPr>
        <p:grpSpPr>
          <a:xfrm>
            <a:off x="5977008" y="4169777"/>
            <a:ext cx="1182361" cy="169061"/>
            <a:chOff x="7544754" y="2350008"/>
            <a:chExt cx="651509" cy="270301"/>
          </a:xfrm>
        </p:grpSpPr>
        <p:sp>
          <p:nvSpPr>
            <p:cNvPr id="84" name="Arrow: Right 83">
              <a:extLst>
                <a:ext uri="{FF2B5EF4-FFF2-40B4-BE49-F238E27FC236}">
                  <a16:creationId xmlns:a16="http://schemas.microsoft.com/office/drawing/2014/main" id="{585135BA-912D-33D9-FC5F-4A416AF416C4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E9A37013-3665-7CD0-9F14-72E008F8ADFE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6B9222D-25E0-E7A2-2E39-CBF533DBED5C}"/>
              </a:ext>
            </a:extLst>
          </p:cNvPr>
          <p:cNvGrpSpPr/>
          <p:nvPr/>
        </p:nvGrpSpPr>
        <p:grpSpPr>
          <a:xfrm>
            <a:off x="4118491" y="4157614"/>
            <a:ext cx="1126997" cy="169061"/>
            <a:chOff x="7544754" y="2350008"/>
            <a:chExt cx="651509" cy="270301"/>
          </a:xfrm>
        </p:grpSpPr>
        <p:sp>
          <p:nvSpPr>
            <p:cNvPr id="90" name="Arrow: Right 89">
              <a:extLst>
                <a:ext uri="{FF2B5EF4-FFF2-40B4-BE49-F238E27FC236}">
                  <a16:creationId xmlns:a16="http://schemas.microsoft.com/office/drawing/2014/main" id="{CF13691C-99A2-6CA2-4331-F36F3D63FA56}"/>
                </a:ext>
              </a:extLst>
            </p:cNvPr>
            <p:cNvSpPr/>
            <p:nvPr/>
          </p:nvSpPr>
          <p:spPr>
            <a:xfrm>
              <a:off x="7670719" y="2350008"/>
              <a:ext cx="525544" cy="270301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Arrow: Right 90">
              <a:extLst>
                <a:ext uri="{FF2B5EF4-FFF2-40B4-BE49-F238E27FC236}">
                  <a16:creationId xmlns:a16="http://schemas.microsoft.com/office/drawing/2014/main" id="{1CDEFB76-A387-A016-6364-99F9B9F66883}"/>
                </a:ext>
              </a:extLst>
            </p:cNvPr>
            <p:cNvSpPr/>
            <p:nvPr/>
          </p:nvSpPr>
          <p:spPr>
            <a:xfrm rot="10800000">
              <a:off x="7544754" y="2356679"/>
              <a:ext cx="513160" cy="25696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33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243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Pearson</dc:creator>
  <cp:lastModifiedBy>Henry Pearson</cp:lastModifiedBy>
  <cp:revision>5</cp:revision>
  <dcterms:created xsi:type="dcterms:W3CDTF">2026-01-01T19:24:00Z</dcterms:created>
  <dcterms:modified xsi:type="dcterms:W3CDTF">2026-04-18T22:41:36Z</dcterms:modified>
</cp:coreProperties>
</file>